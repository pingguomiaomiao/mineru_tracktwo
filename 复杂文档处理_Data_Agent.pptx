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468487"/>
            <a:ext cx="714375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-1" kern="0" dirty="0">
                <a:solidFill>
                  <a:srgbClr val="21252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复杂文档处理 Data Agent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000125" y="2315021"/>
            <a:ext cx="7143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MinerU 的可规划、可降级、可追溯文档智能体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00125" y="2766864"/>
            <a:ext cx="71437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智能进化 · Agent 能力评测赛道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68" y="3245495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0262" y="3474095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多格式输入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392" y="3377654"/>
            <a:ext cx="62508" cy="10001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530" y="3245495"/>
            <a:ext cx="192881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454380" y="3474095"/>
            <a:ext cx="4891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规划</a:t>
            </a:r>
            <a:endParaRPr lang="en-US" sz="7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069" y="3377654"/>
            <a:ext cx="62508" cy="100013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1922" y="3245495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672585" y="3474095"/>
            <a:ext cx="550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解析</a:t>
            </a:r>
            <a:endParaRPr lang="en-US" sz="7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0746" y="3377654"/>
            <a:ext cx="62508" cy="100013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1315" y="3245495"/>
            <a:ext cx="150019" cy="17145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946293" y="3474095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结构化抽取</a:t>
            </a:r>
            <a:endParaRPr lang="en-US" sz="75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9423" y="3377654"/>
            <a:ext cx="62508" cy="100013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9277" y="3245495"/>
            <a:ext cx="171450" cy="17145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6244977" y="3474095"/>
            <a:ext cx="400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质量校验</a:t>
            </a:r>
            <a:endParaRPr lang="en-US" sz="750" dirty="0"/>
          </a:p>
        </p:txBody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8101" y="3377654"/>
            <a:ext cx="62508" cy="100013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7954" y="3245495"/>
            <a:ext cx="171450" cy="17145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7443648" y="3474095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可追溯日志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真实文档处理的难点，不止是“读懂文字”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91072"/>
            <a:ext cx="128588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1760711"/>
            <a:ext cx="10287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多元输入格式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7196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57250" y="2207196"/>
            <a:ext cx="23257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PDF 报告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：布局复杂，包含大量图表</a:t>
            </a:r>
            <a:endParaRPr lang="en-US" sz="10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92958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7250" y="2592958"/>
            <a:ext cx="24023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Word 合同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：条款众多，结构化难度高</a:t>
            </a:r>
            <a:endParaRPr lang="en-US" sz="10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78721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57250" y="2978721"/>
            <a:ext cx="26035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PPT 汇报材料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：信息碎片化，非线性排列</a:t>
            </a:r>
            <a:endParaRPr lang="en-US" sz="10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64483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57250" y="3364483"/>
            <a:ext cx="27992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/ 网页公告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：动态内容，含有大量噪声</a:t>
            </a:r>
            <a:endParaRPr lang="en-US" sz="10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1791072"/>
            <a:ext cx="171450" cy="1714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229225" y="1760711"/>
            <a:ext cx="10287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核心处理难点</a:t>
            </a:r>
            <a:endParaRPr lang="en-US" sz="12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2207196"/>
            <a:ext cx="171450" cy="17145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257800" y="2207196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结构不统一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：跨格式信息难以映射到统一模型</a:t>
            </a:r>
            <a:endParaRPr lang="en-US" sz="10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2592958"/>
            <a:ext cx="171450" cy="17145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257800" y="2592958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长文档遗漏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：跨页信息与长文本容易发生截断</a:t>
            </a:r>
            <a:endParaRPr lang="en-US" sz="10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2050" y="2978721"/>
            <a:ext cx="171450" cy="17145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257800" y="2978721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证据缺失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：结果不可追溯，难以进行人工审计</a:t>
            </a:r>
            <a:endParaRPr lang="en-US" sz="100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2050" y="3364483"/>
            <a:ext cx="171450" cy="17145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257800" y="3364483"/>
            <a:ext cx="300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恢复机制弱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：外部解析服务异常时缺乏自动降级</a:t>
            </a:r>
            <a:endParaRPr lang="en-US" sz="1000" dirty="0"/>
          </a:p>
        </p:txBody>
      </p:sp>
      <p:sp>
        <p:nvSpPr>
          <p:cNvPr id="24" name="Shape 11"/>
          <p:cNvSpPr/>
          <p:nvPr/>
        </p:nvSpPr>
        <p:spPr>
          <a:xfrm>
            <a:off x="571500" y="3837980"/>
            <a:ext cx="8001000" cy="876895"/>
          </a:xfrm>
          <a:prstGeom prst="rect">
            <a:avLst/>
          </a:prstGeom>
          <a:solidFill>
            <a:srgbClr val="00ADB5">
              <a:alpha val="5000"/>
            </a:srgbClr>
          </a:solidFill>
          <a:ln/>
        </p:spPr>
      </p:sp>
      <p:sp>
        <p:nvSpPr>
          <p:cNvPr id="25" name="Shape 12"/>
          <p:cNvSpPr/>
          <p:nvPr/>
        </p:nvSpPr>
        <p:spPr>
          <a:xfrm>
            <a:off x="571500" y="3837980"/>
            <a:ext cx="8001000" cy="7144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26" name="Text 13"/>
          <p:cNvSpPr/>
          <p:nvPr/>
        </p:nvSpPr>
        <p:spPr>
          <a:xfrm>
            <a:off x="800100" y="4173736"/>
            <a:ext cx="77724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目标：把“解析能力”组织成可复现、可审计、可扩展的数据处理 Agent</a:t>
            </a:r>
            <a:endParaRPr lang="en-US" sz="1100" dirty="0"/>
          </a:p>
        </p:txBody>
      </p:sp>
      <p:sp>
        <p:nvSpPr>
          <p:cNvPr id="27" name="Text 14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系统将复杂任务拆成五个可验证阶段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089324"/>
            <a:ext cx="1714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6873" y="2646536"/>
            <a:ext cx="4836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PHASE 01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742950" y="2819772"/>
            <a:ext cx="571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输入解析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00075" y="3098378"/>
            <a:ext cx="857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文件 / URL / 文本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多源数据统一接入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8" y="2123256"/>
            <a:ext cx="142875" cy="14287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0" y="2089324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558523" y="2646536"/>
            <a:ext cx="4836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PHASE 02</a:t>
            </a:r>
            <a:endParaRPr lang="en-US" sz="700" dirty="0"/>
          </a:p>
        </p:txBody>
      </p:sp>
      <p:sp>
        <p:nvSpPr>
          <p:cNvPr id="11" name="Text 5"/>
          <p:cNvSpPr/>
          <p:nvPr/>
        </p:nvSpPr>
        <p:spPr>
          <a:xfrm>
            <a:off x="2514600" y="2819772"/>
            <a:ext cx="571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任务规划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2478881" y="3098378"/>
            <a:ext cx="642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拆解 3-6 个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可执行子步骤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738" y="2123256"/>
            <a:ext cx="142875" cy="1428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2089324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330173" y="2646536"/>
            <a:ext cx="4836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PHASE 03</a:t>
            </a:r>
            <a:endParaRPr lang="en-US" sz="700" dirty="0"/>
          </a:p>
        </p:txBody>
      </p:sp>
      <p:sp>
        <p:nvSpPr>
          <p:cNvPr id="16" name="Text 8"/>
          <p:cNvSpPr/>
          <p:nvPr/>
        </p:nvSpPr>
        <p:spPr>
          <a:xfrm>
            <a:off x="4286250" y="2819772"/>
            <a:ext cx="571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4170136" y="3098378"/>
            <a:ext cx="8037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自动选择 MinerU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或本地解析引擎</a:t>
            </a:r>
            <a:endParaRPr lang="en-US" sz="8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6388" y="2123256"/>
            <a:ext cx="142875" cy="14287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925" y="2089324"/>
            <a:ext cx="17145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101823" y="2646536"/>
            <a:ext cx="4836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PHASE 04</a:t>
            </a:r>
            <a:endParaRPr lang="en-US" sz="700" dirty="0"/>
          </a:p>
        </p:txBody>
      </p:sp>
      <p:sp>
        <p:nvSpPr>
          <p:cNvPr id="21" name="Text 11"/>
          <p:cNvSpPr/>
          <p:nvPr/>
        </p:nvSpPr>
        <p:spPr>
          <a:xfrm>
            <a:off x="5986463" y="2819772"/>
            <a:ext cx="714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</a:t>
            </a:r>
            <a:endParaRPr lang="en-US" sz="1000" dirty="0"/>
          </a:p>
        </p:txBody>
      </p:sp>
      <p:sp>
        <p:nvSpPr>
          <p:cNvPr id="22" name="Text 12"/>
          <p:cNvSpPr/>
          <p:nvPr/>
        </p:nvSpPr>
        <p:spPr>
          <a:xfrm>
            <a:off x="5968603" y="3098378"/>
            <a:ext cx="750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提取摘要、实体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表格及原文证据</a:t>
            </a:r>
            <a:endParaRPr lang="en-US" sz="8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8038" y="2123256"/>
            <a:ext cx="142875" cy="142875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9575" y="2089324"/>
            <a:ext cx="171450" cy="2286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873473" y="2646536"/>
            <a:ext cx="4836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PHASE 05</a:t>
            </a:r>
            <a:endParaRPr lang="en-US" sz="700" dirty="0"/>
          </a:p>
        </p:txBody>
      </p:sp>
      <p:sp>
        <p:nvSpPr>
          <p:cNvPr id="26" name="Text 14"/>
          <p:cNvSpPr/>
          <p:nvPr/>
        </p:nvSpPr>
        <p:spPr>
          <a:xfrm>
            <a:off x="7758113" y="2819772"/>
            <a:ext cx="714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校验与归档</a:t>
            </a:r>
            <a:endParaRPr lang="en-US" sz="1000" dirty="0"/>
          </a:p>
        </p:txBody>
      </p:sp>
      <p:sp>
        <p:nvSpPr>
          <p:cNvPr id="27" name="Text 15"/>
          <p:cNvSpPr/>
          <p:nvPr/>
        </p:nvSpPr>
        <p:spPr>
          <a:xfrm>
            <a:off x="7686675" y="3098378"/>
            <a:ext cx="857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质量检查与全链路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JSONL 日志保存</a:t>
            </a:r>
            <a:endParaRPr lang="en-US" sz="800" dirty="0"/>
          </a:p>
        </p:txBody>
      </p:sp>
      <p:sp>
        <p:nvSpPr>
          <p:cNvPr id="28" name="Shape 16"/>
          <p:cNvSpPr/>
          <p:nvPr/>
        </p:nvSpPr>
        <p:spPr>
          <a:xfrm>
            <a:off x="571500" y="4273748"/>
            <a:ext cx="8001000" cy="441127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29" name="Text 17"/>
          <p:cNvSpPr/>
          <p:nvPr/>
        </p:nvSpPr>
        <p:spPr>
          <a:xfrm>
            <a:off x="1156227" y="4416623"/>
            <a:ext cx="155750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任务创建:</a:t>
            </a:r>
            <a:r>
              <a:rPr lang="en-US" sz="8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/v1/tasks</a:t>
            </a:r>
            <a:endParaRPr lang="en-US" sz="850" dirty="0"/>
          </a:p>
        </p:txBody>
      </p:sp>
      <p:sp>
        <p:nvSpPr>
          <p:cNvPr id="30" name="Text 18"/>
          <p:cNvSpPr/>
          <p:nvPr/>
        </p:nvSpPr>
        <p:spPr>
          <a:xfrm>
            <a:off x="3454561" y="4416623"/>
            <a:ext cx="183187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结果查询:</a:t>
            </a:r>
            <a:r>
              <a:rPr lang="en-US" sz="8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/v1/tasks/{id}</a:t>
            </a:r>
            <a:endParaRPr lang="en-US" sz="850" dirty="0"/>
          </a:p>
        </p:txBody>
      </p:sp>
      <p:sp>
        <p:nvSpPr>
          <p:cNvPr id="31" name="Text 19"/>
          <p:cNvSpPr/>
          <p:nvPr/>
        </p:nvSpPr>
        <p:spPr>
          <a:xfrm>
            <a:off x="6027260" y="4416623"/>
            <a:ext cx="21748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日志审计:</a:t>
            </a:r>
            <a:r>
              <a:rPr lang="en-US" sz="8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/v1/tasks/{id}/logs</a:t>
            </a:r>
            <a:endParaRPr lang="en-US" sz="850" dirty="0"/>
          </a:p>
        </p:txBody>
      </p:sp>
      <p:sp>
        <p:nvSpPr>
          <p:cNvPr id="32" name="Text 20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统一中间表示，让解析后端与抽取逻辑解耦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992981" y="1617836"/>
            <a:ext cx="7158038" cy="383977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0125" y="1617836"/>
            <a:ext cx="1293019" cy="369689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1617836"/>
            <a:ext cx="7144" cy="369689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7" name="Text 4"/>
          <p:cNvSpPr/>
          <p:nvPr/>
        </p:nvSpPr>
        <p:spPr>
          <a:xfrm>
            <a:off x="1000125" y="1617836"/>
            <a:ext cx="1293019" cy="36968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层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87" y="1738387"/>
            <a:ext cx="96441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55765" y="1716956"/>
            <a:ext cx="22861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FastAPI: 任务创建 / 状态查询 / 日志审计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38" y="2073250"/>
            <a:ext cx="85725" cy="1143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92981" y="2273275"/>
            <a:ext cx="7158038" cy="383977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000125" y="2273275"/>
            <a:ext cx="1293019" cy="369689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" name="Shape 8"/>
          <p:cNvSpPr/>
          <p:nvPr/>
        </p:nvSpPr>
        <p:spPr>
          <a:xfrm>
            <a:off x="2286000" y="2273275"/>
            <a:ext cx="7144" cy="369689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4" name="Text 9"/>
          <p:cNvSpPr/>
          <p:nvPr/>
        </p:nvSpPr>
        <p:spPr>
          <a:xfrm>
            <a:off x="1000125" y="2273275"/>
            <a:ext cx="1293019" cy="36968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层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128" y="2393826"/>
            <a:ext cx="128588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34153" y="2372395"/>
            <a:ext cx="10290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Planner: 任务拆解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721" y="2393826"/>
            <a:ext cx="128588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73746" y="2372395"/>
            <a:ext cx="21219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Executor: 调度、异常处理、质量校验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138" y="2728689"/>
            <a:ext cx="85725" cy="1143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92981" y="2928714"/>
            <a:ext cx="7158038" cy="383977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1000125" y="2928714"/>
            <a:ext cx="1293019" cy="369689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2" name="Shape 14"/>
          <p:cNvSpPr/>
          <p:nvPr/>
        </p:nvSpPr>
        <p:spPr>
          <a:xfrm>
            <a:off x="2286000" y="2928714"/>
            <a:ext cx="7144" cy="369689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3" name="Text 15"/>
          <p:cNvSpPr/>
          <p:nvPr/>
        </p:nvSpPr>
        <p:spPr>
          <a:xfrm>
            <a:off x="1000125" y="2928714"/>
            <a:ext cx="1293019" cy="36968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解析工具层</a:t>
            </a:r>
            <a:endParaRPr lang="en-US" sz="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702" y="3049265"/>
            <a:ext cx="160734" cy="1285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750874" y="3040335"/>
            <a:ext cx="7646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SaaS</a:t>
            </a:r>
            <a:endParaRPr lang="en-US" sz="9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5216" y="3049265"/>
            <a:ext cx="160734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27388" y="3040335"/>
            <a:ext cx="77905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Agent</a:t>
            </a:r>
            <a:endParaRPr lang="en-US" sz="9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102" y="3049265"/>
            <a:ext cx="144661" cy="12858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02200" y="3040335"/>
            <a:ext cx="7575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Local</a:t>
            </a:r>
            <a:endParaRPr lang="en-US" sz="9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9399" y="3049265"/>
            <a:ext cx="128588" cy="12858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239424" y="3027834"/>
            <a:ext cx="16717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57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本地兜底 (PDF/DOCX/PPTX)</a:t>
            </a:r>
            <a:endParaRPr lang="en-US" sz="900" dirty="0"/>
          </a:p>
        </p:txBody>
      </p:sp>
      <p:sp>
        <p:nvSpPr>
          <p:cNvPr id="32" name="Shape 20"/>
          <p:cNvSpPr/>
          <p:nvPr/>
        </p:nvSpPr>
        <p:spPr>
          <a:xfrm>
            <a:off x="1000125" y="3384128"/>
            <a:ext cx="7143750" cy="364331"/>
          </a:xfrm>
          <a:prstGeom prst="rect">
            <a:avLst/>
          </a:prstGeom>
          <a:solidFill>
            <a:srgbClr val="00ADB5"/>
          </a:solidFill>
          <a:ln/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8527" y="3487713"/>
            <a:ext cx="150019" cy="142875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2338546" y="3484141"/>
            <a:ext cx="461690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Markdown 统一中间表示 (Unified Intermediate Representation)</a:t>
            </a:r>
            <a:endParaRPr lang="en-US" sz="1000" dirty="0"/>
          </a:p>
        </p:txBody>
      </p:sp>
      <p:sp>
        <p:nvSpPr>
          <p:cNvPr id="35" name="Shape 22"/>
          <p:cNvSpPr/>
          <p:nvPr/>
        </p:nvSpPr>
        <p:spPr>
          <a:xfrm>
            <a:off x="992981" y="3834185"/>
            <a:ext cx="7158038" cy="383977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1000125" y="3834185"/>
            <a:ext cx="1293019" cy="369689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7" name="Shape 24"/>
          <p:cNvSpPr/>
          <p:nvPr/>
        </p:nvSpPr>
        <p:spPr>
          <a:xfrm>
            <a:off x="2286000" y="3834185"/>
            <a:ext cx="7144" cy="369689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8" name="Text 25"/>
          <p:cNvSpPr/>
          <p:nvPr/>
        </p:nvSpPr>
        <p:spPr>
          <a:xfrm>
            <a:off x="1000125" y="3834185"/>
            <a:ext cx="1293019" cy="36968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结构化抽取层</a:t>
            </a:r>
            <a:endParaRPr lang="en-US" sz="8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0124" y="3954735"/>
            <a:ext cx="160734" cy="1285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3232296" y="3945806"/>
            <a:ext cx="138658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OpenAI-compatible LLM</a:t>
            </a:r>
            <a:endParaRPr lang="en-US" sz="9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1379" y="3954735"/>
            <a:ext cx="160734" cy="12858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5993550" y="3933304"/>
            <a:ext cx="1436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 JSON Schema 校验</a:t>
            </a:r>
            <a:endParaRPr lang="en-US" sz="9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9138" y="4289599"/>
            <a:ext cx="85725" cy="114300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992981" y="4489624"/>
            <a:ext cx="7158038" cy="383977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1000125" y="4489624"/>
            <a:ext cx="1293019" cy="369689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6" name="Shape 30"/>
          <p:cNvSpPr/>
          <p:nvPr/>
        </p:nvSpPr>
        <p:spPr>
          <a:xfrm>
            <a:off x="2286000" y="4489624"/>
            <a:ext cx="7144" cy="369689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47" name="Text 31"/>
          <p:cNvSpPr/>
          <p:nvPr/>
        </p:nvSpPr>
        <p:spPr>
          <a:xfrm>
            <a:off x="1000125" y="4489624"/>
            <a:ext cx="1293019" cy="36968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存储层</a:t>
            </a:r>
            <a:endParaRPr lang="en-US" sz="8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62712" y="4610174"/>
            <a:ext cx="96441" cy="12858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3430591" y="4588743"/>
            <a:ext cx="893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任务记录</a:t>
            </a:r>
            <a:endParaRPr lang="en-US" sz="950" dirty="0"/>
          </a:p>
        </p:txBody>
      </p:sp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1290" y="4610174"/>
            <a:ext cx="144661" cy="128588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6207389" y="4588743"/>
            <a:ext cx="9597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JSONL 事件日志</a:t>
            </a:r>
            <a:endParaRPr lang="en-US" sz="950" dirty="0"/>
          </a:p>
        </p:txBody>
      </p:sp>
      <p:sp>
        <p:nvSpPr>
          <p:cNvPr id="52" name="Text 34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MinerU 三种后端兼顾精度、稳定性与可复现性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617836"/>
            <a:ext cx="7890411" cy="2138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17836"/>
            <a:ext cx="1972596" cy="464344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067892"/>
            <a:ext cx="1972596" cy="14288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617836"/>
            <a:ext cx="1972596" cy="464344"/>
          </a:xfrm>
          <a:prstGeom prst="rect">
            <a:avLst/>
          </a:prstGeom>
          <a:noFill/>
          <a:ln/>
        </p:spPr>
        <p:txBody>
          <a:bodyPr wrap="square" lIns="20408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后端类型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44096" y="1617836"/>
            <a:ext cx="2367121" cy="464344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" name="Shape 6"/>
          <p:cNvSpPr/>
          <p:nvPr/>
        </p:nvSpPr>
        <p:spPr>
          <a:xfrm>
            <a:off x="2544096" y="2067892"/>
            <a:ext cx="2367121" cy="14288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0" name="Text 7"/>
          <p:cNvSpPr/>
          <p:nvPr/>
        </p:nvSpPr>
        <p:spPr>
          <a:xfrm>
            <a:off x="2544096" y="1617836"/>
            <a:ext cx="2367121" cy="464344"/>
          </a:xfrm>
          <a:prstGeom prst="rect">
            <a:avLst/>
          </a:prstGeom>
          <a:noFill/>
          <a:ln/>
        </p:spPr>
        <p:txBody>
          <a:bodyPr wrap="square" lIns="20408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定位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11217" y="1617836"/>
            <a:ext cx="3550695" cy="464344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" name="Shape 9"/>
          <p:cNvSpPr/>
          <p:nvPr/>
        </p:nvSpPr>
        <p:spPr>
          <a:xfrm>
            <a:off x="4911217" y="2067892"/>
            <a:ext cx="3550695" cy="14288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3" name="Text 10"/>
          <p:cNvSpPr/>
          <p:nvPr/>
        </p:nvSpPr>
        <p:spPr>
          <a:xfrm>
            <a:off x="4911217" y="1617836"/>
            <a:ext cx="3550695" cy="464344"/>
          </a:xfrm>
          <a:prstGeom prst="rect">
            <a:avLst/>
          </a:prstGeom>
          <a:noFill/>
          <a:ln/>
        </p:spPr>
        <p:txBody>
          <a:bodyPr wrap="square" lIns="204089" tIns="170053" rIns="8509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使用场景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" y="2075036"/>
            <a:ext cx="1972596" cy="552190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mineru_precise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44096" y="2075036"/>
            <a:ext cx="2367121" cy="552190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SaaS 精准解析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11217" y="2075036"/>
            <a:ext cx="3550695" cy="552190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正式评测与高质量解析需求，提供最强布局还原能力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" y="2627226"/>
            <a:ext cx="1972596" cy="555761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mineru_agent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44096" y="2627226"/>
            <a:ext cx="2367121" cy="555761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轻量解析接口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11217" y="2627226"/>
            <a:ext cx="3550695" cy="555761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精准接口异常或未配置 Token 时自动降级，保证业务连续性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" y="3182987"/>
            <a:ext cx="1972596" cy="555761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mineru_local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544096" y="3182987"/>
            <a:ext cx="2367121" cy="555761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开源本地 CLI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11217" y="3182987"/>
            <a:ext cx="3550695" cy="555761"/>
          </a:xfrm>
          <a:prstGeom prst="rect">
            <a:avLst/>
          </a:prstGeom>
          <a:noFill/>
          <a:ln/>
        </p:spPr>
        <p:txBody>
          <a:bodyPr wrap="square" lIns="204089" tIns="204089" rIns="8509" bIns="204089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离线验证与开源工具链复现，支持输出多种中间态 JSON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71500" y="4078077"/>
            <a:ext cx="8001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自动降级与切换策略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487056"/>
            <a:ext cx="160734" cy="1428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39391" y="4462053"/>
            <a:ext cx="111964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优先使用 Precise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346" y="4488842"/>
            <a:ext cx="128588" cy="128588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246" y="4487056"/>
            <a:ext cx="142875" cy="1428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766278" y="4462053"/>
            <a:ext cx="13017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57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异常自动切换 Agent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315" y="4488842"/>
            <a:ext cx="128588" cy="12858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5215" y="4487056"/>
            <a:ext cx="142875" cy="14287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875247" y="4462053"/>
            <a:ext cx="141298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必要时手动切换 Local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71500" y="4797809"/>
            <a:ext cx="80010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本地 CLI 已验证可输出 Markdown、Content List、Middle/Model JSON、Layout/Span PDF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结果不仅可读，还能被验证和追溯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38349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3678" y="1410667"/>
            <a:ext cx="110013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多维结构化输出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71500" y="1794644"/>
            <a:ext cx="3680454" cy="2088654"/>
          </a:xfrm>
          <a:prstGeom prst="rect">
            <a:avLst/>
          </a:prstGeom>
          <a:solidFill>
            <a:srgbClr val="212529"/>
          </a:solidFill>
          <a:ln w="9144">
            <a:solidFill>
              <a:srgbClr val="343A4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1500" y="1794644"/>
            <a:ext cx="3680454" cy="2088654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"summary"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dirty="0">
                <a:solidFill>
                  <a:srgbClr val="DE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"metadata"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dirty="0">
                <a:solidFill>
                  <a:srgbClr val="DE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{...}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"entities"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dirty="0">
                <a:solidFill>
                  <a:srgbClr val="DE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[...]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"tables"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dirty="0">
                <a:solidFill>
                  <a:srgbClr val="DE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[...]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"quality"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dirty="0">
                <a:solidFill>
                  <a:srgbClr val="DE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{...}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"evidence"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dirty="0">
                <a:solidFill>
                  <a:srgbClr val="DE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[...]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6" y="1438349"/>
            <a:ext cx="157163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34933" y="1410667"/>
            <a:ext cx="110013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全链路审计日志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963483" y="1794644"/>
            <a:ext cx="14288" cy="1928813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1" name="Text 6"/>
          <p:cNvSpPr/>
          <p:nvPr/>
        </p:nvSpPr>
        <p:spPr>
          <a:xfrm>
            <a:off x="5177796" y="1794644"/>
            <a:ext cx="339470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task_queued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177796" y="1969666"/>
            <a:ext cx="339470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任务进入队列，分配唯一 ID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5177796" y="2333997"/>
            <a:ext cx="339470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plan_created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177796" y="2509019"/>
            <a:ext cx="339470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生成 3-6 步执行计划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5177796" y="2873350"/>
            <a:ext cx="339470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177796" y="3048372"/>
            <a:ext cx="339470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调用 MinerU 解析后端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5177796" y="3412703"/>
            <a:ext cx="339470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task_succeeded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177796" y="3587725"/>
            <a:ext cx="339470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结构化抽取完成，日志归档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571500" y="4038005"/>
            <a:ext cx="8001000" cy="676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571500" y="4038005"/>
            <a:ext cx="8001000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1" name="Text 16"/>
          <p:cNvSpPr/>
          <p:nvPr/>
        </p:nvSpPr>
        <p:spPr>
          <a:xfrm>
            <a:off x="571500" y="4345186"/>
            <a:ext cx="8001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输入、计划、工具、证据、质量检查 </a:t>
            </a:r>
            <a:r>
              <a:rPr lang="en-US" sz="11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均可实时查询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 个测试样例覆盖多格式输入与 132 页长文档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210025" y="428625"/>
            <a:ext cx="13624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0ADB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 / 9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210025" y="800100"/>
            <a:ext cx="13624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SUCCESS RATE 100%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45518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9391" y="1617836"/>
            <a:ext cx="94297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本地格式验证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71500" y="1973238"/>
            <a:ext cx="1789426" cy="232172"/>
          </a:xfrm>
          <a:prstGeom prst="rect">
            <a:avLst/>
          </a:prstGeom>
          <a:noFill/>
          <a:ln/>
        </p:spPr>
        <p:txBody>
          <a:bodyPr wrap="squar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输入类型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2360926" y="1973238"/>
            <a:ext cx="656081" cy="232172"/>
          </a:xfrm>
          <a:prstGeom prst="rect">
            <a:avLst/>
          </a:prstGeom>
          <a:noFill/>
          <a:ln/>
        </p:spPr>
        <p:txBody>
          <a:bodyPr wrap="non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样例数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3017007" y="1973238"/>
            <a:ext cx="1340681" cy="232172"/>
          </a:xfrm>
          <a:prstGeom prst="rect">
            <a:avLst/>
          </a:prstGeom>
          <a:noFill/>
          <a:ln/>
        </p:spPr>
        <p:txBody>
          <a:bodyPr wrap="squar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执行状态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71500" y="2205410"/>
            <a:ext cx="1789426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TXT 纯文本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360926" y="2205410"/>
            <a:ext cx="656081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017007" y="2205410"/>
            <a:ext cx="1340681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SUCCEEDED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71500" y="2612603"/>
            <a:ext cx="1789426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网页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360926" y="2612603"/>
            <a:ext cx="656081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017007" y="2612603"/>
            <a:ext cx="1340681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SUCCEEDED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571500" y="3019797"/>
            <a:ext cx="1789426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DOCX 文档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360926" y="3019797"/>
            <a:ext cx="656081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017007" y="3019797"/>
            <a:ext cx="1340681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SUCCEEDED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71500" y="3426991"/>
            <a:ext cx="1789426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PPTX 演示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360926" y="3426991"/>
            <a:ext cx="656081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017007" y="3426991"/>
            <a:ext cx="1340681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SUCCEEDED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71500" y="3834185"/>
            <a:ext cx="1789426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扫描/电子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360926" y="3834185"/>
            <a:ext cx="656081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017007" y="3834185"/>
            <a:ext cx="1340681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AD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SUCCEEDED</a:t>
            </a:r>
            <a:endParaRPr lang="en-US" sz="7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645518"/>
            <a:ext cx="117872" cy="15716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75622" y="1617836"/>
            <a:ext cx="1344644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公开 PDF 压力测试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786313" y="1973238"/>
            <a:ext cx="2374683" cy="232172"/>
          </a:xfrm>
          <a:prstGeom prst="rect">
            <a:avLst/>
          </a:prstGeom>
          <a:noFill/>
          <a:ln/>
        </p:spPr>
        <p:txBody>
          <a:bodyPr wrap="squar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测试文档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7160995" y="1973238"/>
            <a:ext cx="434625" cy="232172"/>
          </a:xfrm>
          <a:prstGeom prst="rect">
            <a:avLst/>
          </a:prstGeom>
          <a:noFill/>
          <a:ln/>
        </p:spPr>
        <p:txBody>
          <a:bodyPr wrap="non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页数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7595620" y="1973238"/>
            <a:ext cx="976880" cy="232172"/>
          </a:xfrm>
          <a:prstGeom prst="rect">
            <a:avLst/>
          </a:prstGeom>
          <a:noFill/>
          <a:ln/>
        </p:spPr>
        <p:txBody>
          <a:bodyPr wrap="non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解析字符数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4786313" y="2205410"/>
            <a:ext cx="2374683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arXiv scikit-learn 论文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7160995" y="2205410"/>
            <a:ext cx="434625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7595620" y="2205410"/>
            <a:ext cx="976880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15,351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786313" y="2612603"/>
            <a:ext cx="2374683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空气质量报告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7160995" y="2612603"/>
            <a:ext cx="434625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595620" y="2612603"/>
            <a:ext cx="976880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138,325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786313" y="3019797"/>
            <a:ext cx="2374683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微电网论文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7160995" y="3019797"/>
            <a:ext cx="434625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7595620" y="3019797"/>
            <a:ext cx="976880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130,522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4786313" y="3426991"/>
            <a:ext cx="2374683" cy="407194"/>
          </a:xfrm>
          <a:prstGeom prst="rect">
            <a:avLst/>
          </a:prstGeom>
          <a:noFill/>
          <a:ln/>
        </p:spPr>
        <p:txBody>
          <a:bodyPr wrap="squar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DB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DigitalOcean 年报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7160995" y="3426991"/>
            <a:ext cx="434625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DB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132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7595620" y="3426991"/>
            <a:ext cx="976880" cy="407194"/>
          </a:xfrm>
          <a:prstGeom prst="rect">
            <a:avLst/>
          </a:prstGeom>
          <a:noFill/>
          <a:ln/>
        </p:spPr>
        <p:txBody>
          <a:bodyPr wrap="none" lIns="8509" tIns="136017" rIns="850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DB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510,976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571500" y="4409480"/>
            <a:ext cx="8001000" cy="3053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571500" y="4409480"/>
            <a:ext cx="8001000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45" name="Text 40"/>
          <p:cNvSpPr/>
          <p:nvPr/>
        </p:nvSpPr>
        <p:spPr>
          <a:xfrm>
            <a:off x="571500" y="4409480"/>
            <a:ext cx="8001000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所有测试均在当前版本系统上完成，验证了系统对长文档处理的稳定性与 MinerU 解析的准确性。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三步完成一次可追溯的数据处理任务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689274"/>
            <a:ext cx="257175" cy="257175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68927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35831" y="1701775"/>
            <a:ext cx="6858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创建任务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089324"/>
            <a:ext cx="2400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/v1/tasks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303636"/>
            <a:ext cx="2400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上传本地文件、提交网页 URL 或直接发送待处理文本。系统立即返回唯一 Task ID。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71850" y="1689274"/>
            <a:ext cx="257175" cy="257175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10" name="Text 7"/>
          <p:cNvSpPr/>
          <p:nvPr/>
        </p:nvSpPr>
        <p:spPr>
          <a:xfrm>
            <a:off x="3371850" y="168927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736181" y="1701775"/>
            <a:ext cx="6858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查询结果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71850" y="2089324"/>
            <a:ext cx="2400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/v1/tasks/{id}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71850" y="2303636"/>
            <a:ext cx="2400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实时查看任务状态、执行计划、工具调用详情以及最终生成的结构化 JSON 结果。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72200" y="1689274"/>
            <a:ext cx="257175" cy="257175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68927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36531" y="1701775"/>
            <a:ext cx="6858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查询日志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72200" y="2089324"/>
            <a:ext cx="2400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/v1/tasks/{id}/logs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72200" y="2303636"/>
            <a:ext cx="2400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获取完整的事件链记录，包括规划细节、工具输出及任何自动触发的异常恢复操作。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71500" y="2955113"/>
            <a:ext cx="8001000" cy="1098352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2955113"/>
            <a:ext cx="8001000" cy="28575"/>
          </a:xfrm>
          <a:prstGeom prst="rect">
            <a:avLst/>
          </a:prstGeom>
          <a:solidFill>
            <a:srgbClr val="343A40"/>
          </a:solidFill>
          <a:ln/>
        </p:spPr>
      </p:sp>
      <p:sp>
        <p:nvSpPr>
          <p:cNvPr id="21" name="Text 18"/>
          <p:cNvSpPr/>
          <p:nvPr/>
        </p:nvSpPr>
        <p:spPr>
          <a:xfrm>
            <a:off x="1228725" y="3169425"/>
            <a:ext cx="1613762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- DEMO ENVIRONMENT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857250" y="3374808"/>
            <a:ext cx="771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41592" y="3374808"/>
            <a:ext cx="455274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uvicorn src.main:app --host 127.0.0.1 --port 8000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57250" y="3592692"/>
            <a:ext cx="771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41592" y="3592692"/>
            <a:ext cx="33952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scripts/run_smoke_tests.py --no-start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稳定性来自明确的降级、校验与存储边界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0711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160761"/>
            <a:ext cx="1785938" cy="31789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输入保护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2735833"/>
            <a:ext cx="125919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严格限制上传文件大小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71500" y="3004421"/>
            <a:ext cx="125919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多格式 MIME 类型校验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1500" y="3273010"/>
            <a:ext cx="125919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输入源合法性预检查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188" y="1760711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43188" y="2160761"/>
            <a:ext cx="1785938" cy="31789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异常恢复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43188" y="2735833"/>
            <a:ext cx="124016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精准解析失败自动降级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2643188" y="3004421"/>
            <a:ext cx="124016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调用超时重试机制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2643188" y="3273010"/>
            <a:ext cx="124016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规划冲突自愈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760711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14875" y="2160761"/>
            <a:ext cx="1785938" cy="31789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稳定输出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714875" y="2735833"/>
            <a:ext cx="13612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 Schema 强校验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4714875" y="3004421"/>
            <a:ext cx="13612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不可用时 Fallback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4714875" y="3273010"/>
            <a:ext cx="13612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统一结构化 JSON 格式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3" y="1760711"/>
            <a:ext cx="200025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86563" y="2160761"/>
            <a:ext cx="1785938" cy="31789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可追溯存储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786563" y="2735833"/>
            <a:ext cx="123386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任务状态持久化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6786563" y="3004421"/>
            <a:ext cx="123386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JSONL 全量事件日志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786563" y="3273010"/>
            <a:ext cx="123386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解析中间态数据留存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571500" y="4255889"/>
            <a:ext cx="8001000" cy="458986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5" name="Shape 18"/>
          <p:cNvSpPr/>
          <p:nvPr/>
        </p:nvSpPr>
        <p:spPr>
          <a:xfrm>
            <a:off x="785813" y="4398764"/>
            <a:ext cx="865343" cy="173236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6" name="Text 19"/>
          <p:cNvSpPr/>
          <p:nvPr/>
        </p:nvSpPr>
        <p:spPr>
          <a:xfrm>
            <a:off x="785813" y="4398764"/>
            <a:ext cx="865343" cy="17323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C757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NEXT STEPS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1794030" y="4399657"/>
            <a:ext cx="39575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强化 OCR 能力 · 引入任务队列 · 补充自动化指标评测 (准确率/召回率)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从“解析文档”走向“可交付的数据处理 Agent”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05360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1550" y="1760711"/>
            <a:ext cx="34575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统一入口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71550" y="2078608"/>
            <a:ext cx="34575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兼容文件上传、网页 URL 及直接文本输入，屏蔽底层来源差异。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80536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14925" y="1760711"/>
            <a:ext cx="34575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可切换工具链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114925" y="2078608"/>
            <a:ext cx="34575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灵活调度 MinerU Precise / Agent / Local 后端，兼顾精度与稳定性。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11884"/>
            <a:ext cx="257175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0125" y="3067236"/>
            <a:ext cx="34290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稳定结构化输出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000125" y="3385133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Pydantic 校验的 JSON 输出，包含摘要、实体、表格及原文证据。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111884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14925" y="3067236"/>
            <a:ext cx="34575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全链路可追溯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114925" y="3385133"/>
            <a:ext cx="34575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详尽的 JSONL 事件日志记录，为生产环境提供必要的审计与调试支持。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571500" y="4088011"/>
            <a:ext cx="8001000" cy="62686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7" name="Shape 10"/>
          <p:cNvSpPr/>
          <p:nvPr/>
        </p:nvSpPr>
        <p:spPr>
          <a:xfrm>
            <a:off x="571500" y="4088011"/>
            <a:ext cx="8001000" cy="28575"/>
          </a:xfrm>
          <a:prstGeom prst="rect">
            <a:avLst/>
          </a:prstGeom>
          <a:solidFill>
            <a:srgbClr val="00ADB5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5998" y="4330898"/>
            <a:ext cx="139303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455301" y="4338042"/>
            <a:ext cx="77166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3226966" y="4338042"/>
            <a:ext cx="3601036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github.com/PingGuoMiaoMiao/MinerU_TrackTwo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8746992" y="481310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评审常见问题 (Q&amp;A)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3536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0100" y="1474961"/>
            <a:ext cx="198121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是否只能解析 PDF 格式？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1778571"/>
            <a:ext cx="800100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不是。系统支持 PDF、Word、PPT、HTML、TXT、网页 URL 以及直接文本输入，实现了多源异构数据的统一接入。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8621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2150046"/>
            <a:ext cx="30293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如果 MinerU SaaS 接口不可用怎么办？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453655"/>
            <a:ext cx="8001000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系统内置自动降级机制。当精准解析接口异常时，会自动切换至轻量级 Agent 接口，或手动切换至本地开源 CLI 模式。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3705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2825130"/>
            <a:ext cx="22288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抽取结果的准确性如何验证？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71500" y="3128739"/>
            <a:ext cx="8001000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结构化结果中包含 evidence 字段，关联原文证据片段。同时，日志接口保留了完整的执行计划、工具调用详情及质量检查记录。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57389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00100" y="3728814"/>
            <a:ext cx="29146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当前版本还可以从哪些方面进行增强？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71500" y="4032424"/>
            <a:ext cx="8001000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后续计划强化极端场景下的 OCR 能力，引入分布式任务队列支持高并发，并补充字段准确率与证据召回率的自动化评测指标。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8754414" y="4813102"/>
            <a:ext cx="1038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2026-05-31T14:07:10Z</dcterms:created>
  <dcterms:modified xsi:type="dcterms:W3CDTF">2026-05-31T14:07:10Z</dcterms:modified>
</cp:coreProperties>
</file>